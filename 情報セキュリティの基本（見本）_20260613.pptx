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Theme" Type="http://schemas.openxmlformats.org/officeDocument/2006/relationships/theme" Target="theme/theme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000">
          <a:solidFill>
            <a:srgbClr val="4A3370"/>
          </a:solidFill>
        </a:defRPr>
      </a:lvl1pPr>
    </p:titleStyle>
    <p:bodyStyle>
      <a:lvl1pPr marL="285750" indent="-285750">
        <a:buChar char="•"/>
        <a:defRPr sz="2000">
          <a:solidFill>
            <a:srgbClr val="382A52"/>
          </a:solidFill>
        </a:defRPr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10820400" cy="1143000"/>
          </a:xfrm>
          <a:prstGeom prst="rect">
            <a:avLst/>
          </a:prstGeom>
        </p:spPr>
        <p:txBody>
          <a:bodyPr anchor="b"/>
          <a:lstStyle/>
          <a:p>
            <a:pPr>
              <a:buNone/>
            </a:pPr>
            <a:r>
              <a:rPr lang="ja-JP" sz="3600" b="1">
                <a:solidFill>
                  <a:srgbClr val="4A3370"/>
                </a:solidFill>
              </a:rPr>
              <a:t>はじめての情報セキュリティ</a:t>
            </a:r>
          </a:p>
        </p:txBody>
      </p:sp>
      <p:sp>
        <p:nvSpPr>
          <p:cNvPr id="3" name="Accent"/>
          <p:cNvSpPr/>
          <p:nvPr/>
        </p:nvSpPr>
        <p:spPr>
          <a:xfrm>
            <a:off x="685800" y="1645920"/>
            <a:ext cx="2286000" cy="45720"/>
          </a:xfrm>
          <a:prstGeom prst="rect">
            <a:avLst/>
          </a:prstGeom>
          <a:solidFill>
            <a:srgbClr val="4A3370"/>
          </a:solidFill>
        </p:spPr>
        <p:txBody>
          <a:bodyPr/>
          <a:lstStyle/>
          <a:p>
            <a:endParaRPr lang="ja-JP"/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685800" y="1965960"/>
            <a:ext cx="10820400" cy="443484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>
              <a:buChar char="•"/>
            </a:pPr>
            <a:r>
              <a:rPr lang="ja-JP" sz="2000">
                <a:solidFill>
                  <a:srgbClr val="382A52"/>
                </a:solidFill>
              </a:rPr>
              <a:t>新卒エンジニア向けワークショップ</a:t>
            </a:r>
          </a:p>
          <a:p>
            <a:pPr marL="285750" indent="-285750">
              <a:buChar char="•"/>
            </a:pPr>
            <a:r>
              <a:rPr lang="ja-JP" sz="2000">
                <a:solidFill>
                  <a:srgbClr val="382A52"/>
                </a:solidFill>
              </a:rPr>
              <a:t>〜守る人になるための第一歩〜</a:t>
            </a:r>
          </a:p>
          <a:p>
            <a:pPr>
              <a:buNone/>
            </a:pPr>
            <a:r>
              <a:rPr lang="ja-JP" sz="1400" b="1">
                <a:solidFill>
                  <a:srgbClr val="7558B0"/>
                </a:solidFill>
              </a:rPr>
              <a:t>🎙 講師ノート</a:t>
            </a:r>
          </a:p>
          <a:p>
            <a:pPr>
              <a:buNone/>
            </a:pPr>
            <a:r>
              <a:rPr lang="ja-JP" sz="1500">
                <a:solidFill>
                  <a:srgbClr val="6B5A8A"/>
                </a:solidFill>
              </a:rPr>
              <a:t>明るく自己紹介し、「今日は怖がらせる時間ではなく、守り方を身につける時間です」と伝える。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10820400" cy="1143000"/>
          </a:xfrm>
          <a:prstGeom prst="rect">
            <a:avLst/>
          </a:prstGeom>
        </p:spPr>
        <p:txBody>
          <a:bodyPr anchor="b"/>
          <a:lstStyle/>
          <a:p>
            <a:pPr>
              <a:buNone/>
            </a:pPr>
            <a:r>
              <a:rPr lang="ja-JP" sz="3600" b="1">
                <a:solidFill>
                  <a:srgbClr val="4A3370"/>
                </a:solidFill>
              </a:rPr>
              <a:t>なぜセキュリティが必要？</a:t>
            </a:r>
          </a:p>
        </p:txBody>
      </p:sp>
      <p:sp>
        <p:nvSpPr>
          <p:cNvPr id="3" name="Accent"/>
          <p:cNvSpPr/>
          <p:nvPr/>
        </p:nvSpPr>
        <p:spPr>
          <a:xfrm>
            <a:off x="685800" y="1645920"/>
            <a:ext cx="2286000" cy="45720"/>
          </a:xfrm>
          <a:prstGeom prst="rect">
            <a:avLst/>
          </a:prstGeom>
          <a:solidFill>
            <a:srgbClr val="6E8456"/>
          </a:solidFill>
        </p:spPr>
        <p:txBody>
          <a:bodyPr/>
          <a:lstStyle/>
          <a:p>
            <a:endParaRPr lang="ja-JP"/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685800" y="1965960"/>
            <a:ext cx="10820400" cy="443484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>
              <a:buChar char="•"/>
            </a:pPr>
            <a:r>
              <a:rPr lang="ja-JP" sz="2000">
                <a:solidFill>
                  <a:srgbClr val="382A52"/>
                </a:solidFill>
              </a:rPr>
              <a:t>情報は会社の大切な財産</a:t>
            </a:r>
          </a:p>
          <a:p>
            <a:pPr marL="285750" indent="-285750">
              <a:buChar char="•"/>
            </a:pPr>
            <a:r>
              <a:rPr lang="ja-JP" sz="2000">
                <a:solidFill>
                  <a:srgbClr val="382A52"/>
                </a:solidFill>
              </a:rPr>
              <a:t>一度の漏えいが信頼を失わせる</a:t>
            </a:r>
          </a:p>
          <a:p>
            <a:pPr marL="285750" indent="-285750">
              <a:buChar char="•"/>
            </a:pPr>
            <a:r>
              <a:rPr lang="ja-JP" sz="2000">
                <a:solidFill>
                  <a:srgbClr val="382A52"/>
                </a:solidFill>
              </a:rPr>
              <a:t>守るのは特別な人ではなく全員</a:t>
            </a:r>
          </a:p>
          <a:p>
            <a:pPr>
              <a:buNone/>
            </a:pPr>
            <a:r>
              <a:rPr lang="ja-JP" sz="1400" b="1">
                <a:solidFill>
                  <a:srgbClr val="7558B0"/>
                </a:solidFill>
              </a:rPr>
              <a:t>🎙 講師ノート</a:t>
            </a:r>
          </a:p>
          <a:p>
            <a:pPr>
              <a:buNone/>
            </a:pPr>
            <a:r>
              <a:rPr lang="ja-JP" sz="1500">
                <a:solidFill>
                  <a:srgbClr val="6B5A8A"/>
                </a:solidFill>
              </a:rPr>
              <a:t>身近なニュースを1つ挙げ、自分ごととして考えてもらう。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10820400" cy="1143000"/>
          </a:xfrm>
          <a:prstGeom prst="rect">
            <a:avLst/>
          </a:prstGeom>
        </p:spPr>
        <p:txBody>
          <a:bodyPr anchor="b"/>
          <a:lstStyle/>
          <a:p>
            <a:pPr>
              <a:buNone/>
            </a:pPr>
            <a:r>
              <a:rPr lang="ja-JP" sz="3600" b="1">
                <a:solidFill>
                  <a:srgbClr val="4A3370"/>
                </a:solidFill>
              </a:rPr>
              <a:t>3つの基本：機密性・完全性・可用性</a:t>
            </a:r>
          </a:p>
        </p:txBody>
      </p:sp>
      <p:sp>
        <p:nvSpPr>
          <p:cNvPr id="3" name="Accent"/>
          <p:cNvSpPr/>
          <p:nvPr/>
        </p:nvSpPr>
        <p:spPr>
          <a:xfrm>
            <a:off x="685800" y="1645920"/>
            <a:ext cx="2286000" cy="45720"/>
          </a:xfrm>
          <a:prstGeom prst="rect">
            <a:avLst/>
          </a:prstGeom>
          <a:solidFill>
            <a:srgbClr val="7558B0"/>
          </a:solidFill>
        </p:spPr>
        <p:txBody>
          <a:bodyPr/>
          <a:lstStyle/>
          <a:p>
            <a:endParaRPr lang="ja-JP"/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685800" y="1965960"/>
            <a:ext cx="10820400" cy="443484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>
              <a:buChar char="•"/>
            </a:pPr>
            <a:r>
              <a:rPr lang="ja-JP" sz="2000">
                <a:solidFill>
                  <a:srgbClr val="382A52"/>
                </a:solidFill>
              </a:rPr>
              <a:t>機密性：見せていい人にだけ見せる</a:t>
            </a:r>
          </a:p>
          <a:p>
            <a:pPr marL="285750" indent="-285750">
              <a:buChar char="•"/>
            </a:pPr>
            <a:r>
              <a:rPr lang="ja-JP" sz="2000">
                <a:solidFill>
                  <a:srgbClr val="382A52"/>
                </a:solidFill>
              </a:rPr>
              <a:t>完全性：勝手に書き換えられない</a:t>
            </a:r>
          </a:p>
          <a:p>
            <a:pPr marL="285750" indent="-285750">
              <a:buChar char="•"/>
            </a:pPr>
            <a:r>
              <a:rPr lang="ja-JP" sz="2000">
                <a:solidFill>
                  <a:srgbClr val="382A52"/>
                </a:solidFill>
              </a:rPr>
              <a:t>可用性：使いたいときに使える</a:t>
            </a:r>
          </a:p>
          <a:p>
            <a:pPr>
              <a:buNone/>
            </a:pPr>
            <a:r>
              <a:rPr lang="ja-JP" sz="1400" b="1">
                <a:solidFill>
                  <a:srgbClr val="7558B0"/>
                </a:solidFill>
              </a:rPr>
              <a:t>🎙 講師ノート</a:t>
            </a:r>
          </a:p>
          <a:p>
            <a:pPr>
              <a:buNone/>
            </a:pPr>
            <a:r>
              <a:rPr lang="ja-JP" sz="1500">
                <a:solidFill>
                  <a:srgbClr val="6B5A8A"/>
                </a:solidFill>
              </a:rPr>
              <a:t>うさうさラーメン店にたとえる：レシピは秘密(機密性)、味を変えない(完全性)、開店時間に開ける(可用性)。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10820400" cy="1143000"/>
          </a:xfrm>
          <a:prstGeom prst="rect">
            <a:avLst/>
          </a:prstGeom>
        </p:spPr>
        <p:txBody>
          <a:bodyPr anchor="b"/>
          <a:lstStyle/>
          <a:p>
            <a:pPr>
              <a:buNone/>
            </a:pPr>
            <a:r>
              <a:rPr lang="ja-JP" sz="3600" b="1">
                <a:solidFill>
                  <a:srgbClr val="4A3370"/>
                </a:solidFill>
              </a:rPr>
              <a:t>やってみよう：強いパスワード</a:t>
            </a:r>
          </a:p>
        </p:txBody>
      </p:sp>
      <p:sp>
        <p:nvSpPr>
          <p:cNvPr id="3" name="Accent"/>
          <p:cNvSpPr/>
          <p:nvPr/>
        </p:nvSpPr>
        <p:spPr>
          <a:xfrm>
            <a:off x="685800" y="1645920"/>
            <a:ext cx="2286000" cy="45720"/>
          </a:xfrm>
          <a:prstGeom prst="rect">
            <a:avLst/>
          </a:prstGeom>
          <a:solidFill>
            <a:srgbClr val="BE708F"/>
          </a:solidFill>
        </p:spPr>
        <p:txBody>
          <a:bodyPr/>
          <a:lstStyle/>
          <a:p>
            <a:endParaRPr lang="ja-JP"/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685800" y="1965960"/>
            <a:ext cx="10820400" cy="443484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>
              <a:buChar char="•"/>
            </a:pPr>
            <a:r>
              <a:rPr lang="ja-JP" sz="2000">
                <a:solidFill>
                  <a:srgbClr val="382A52"/>
                </a:solidFill>
              </a:rPr>
              <a:t>弱い例と強い例を見比べる</a:t>
            </a:r>
          </a:p>
          <a:p>
            <a:pPr marL="285750" indent="-285750">
              <a:buChar char="•"/>
            </a:pPr>
            <a:r>
              <a:rPr lang="ja-JP" sz="2000">
                <a:solidFill>
                  <a:srgbClr val="382A52"/>
                </a:solidFill>
              </a:rPr>
              <a:t>パスフレーズの作り方を体験</a:t>
            </a:r>
          </a:p>
          <a:p>
            <a:pPr>
              <a:buNone/>
            </a:pPr>
            <a:r>
              <a:rPr lang="ja-JP" sz="1400" b="1">
                <a:solidFill>
                  <a:srgbClr val="BE708F"/>
                </a:solidFill>
              </a:rPr>
              <a:t>🛠 演習・ワーク</a:t>
            </a:r>
          </a:p>
          <a:p>
            <a:pPr>
              <a:buNone/>
            </a:pPr>
            <a:r>
              <a:rPr lang="ja-JP" sz="1500">
                <a:solidFill>
                  <a:srgbClr val="5D3A4C"/>
                </a:solidFill>
              </a:rPr>
              <a:t>3〜4人グループで「覚えやすく破られにくいパスフレーズ」を1つ考え、なぜ強いかを1分で発表する。</a:t>
            </a:r>
          </a:p>
          <a:p>
            <a:pPr>
              <a:buNone/>
            </a:pPr>
            <a:r>
              <a:rPr lang="ja-JP" sz="1400" b="1">
                <a:solidFill>
                  <a:srgbClr val="7558B0"/>
                </a:solidFill>
              </a:rPr>
              <a:t>🎙 講師ノート</a:t>
            </a:r>
          </a:p>
          <a:p>
            <a:pPr>
              <a:buNone/>
            </a:pPr>
            <a:r>
              <a:rPr lang="ja-JP" sz="1500">
                <a:solidFill>
                  <a:srgbClr val="6B5A8A"/>
                </a:solidFill>
              </a:rPr>
              <a:t>恥ずかしい実例より、作る楽しさにフォーカスする。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10820400" cy="1143000"/>
          </a:xfrm>
          <a:prstGeom prst="rect">
            <a:avLst/>
          </a:prstGeom>
        </p:spPr>
        <p:txBody>
          <a:bodyPr anchor="b"/>
          <a:lstStyle/>
          <a:p>
            <a:pPr>
              <a:buNone/>
            </a:pPr>
            <a:r>
              <a:rPr lang="ja-JP" sz="3600" b="1">
                <a:solidFill>
                  <a:srgbClr val="4A3370"/>
                </a:solidFill>
              </a:rPr>
              <a:t>このメール、開いていい？</a:t>
            </a:r>
          </a:p>
        </p:txBody>
      </p:sp>
      <p:sp>
        <p:nvSpPr>
          <p:cNvPr id="3" name="Accent"/>
          <p:cNvSpPr/>
          <p:nvPr/>
        </p:nvSpPr>
        <p:spPr>
          <a:xfrm>
            <a:off x="685800" y="1645920"/>
            <a:ext cx="2286000" cy="45720"/>
          </a:xfrm>
          <a:prstGeom prst="rect">
            <a:avLst/>
          </a:prstGeom>
          <a:solidFill>
            <a:srgbClr val="C28A24"/>
          </a:solidFill>
        </p:spPr>
        <p:txBody>
          <a:bodyPr/>
          <a:lstStyle/>
          <a:p>
            <a:endParaRPr lang="ja-JP"/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685800" y="1965960"/>
            <a:ext cx="10820400" cy="443484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>
              <a:buChar char="•"/>
            </a:pPr>
            <a:r>
              <a:rPr lang="ja-JP" sz="2000">
                <a:solidFill>
                  <a:srgbClr val="382A52"/>
                </a:solidFill>
              </a:rPr>
              <a:t>3問の○×クイズ</a:t>
            </a:r>
          </a:p>
          <a:p>
            <a:pPr marL="285750" indent="-285750">
              <a:buChar char="•"/>
            </a:pPr>
            <a:r>
              <a:rPr lang="ja-JP" sz="2000">
                <a:solidFill>
                  <a:srgbClr val="382A52"/>
                </a:solidFill>
              </a:rPr>
              <a:t>フィッシングの見抜き方</a:t>
            </a:r>
          </a:p>
          <a:p>
            <a:pPr>
              <a:buNone/>
            </a:pPr>
            <a:r>
              <a:rPr lang="ja-JP" sz="1400" b="1">
                <a:solidFill>
                  <a:srgbClr val="BE708F"/>
                </a:solidFill>
              </a:rPr>
              <a:t>🛠 演習・ワーク</a:t>
            </a:r>
          </a:p>
          <a:p>
            <a:pPr>
              <a:buNone/>
            </a:pPr>
            <a:r>
              <a:rPr lang="ja-JP" sz="1500">
                <a:solidFill>
                  <a:srgbClr val="5D3A4C"/>
                </a:solidFill>
              </a:rPr>
              <a:t>差出人・URL・添付ファイルの3点を確認するクイズを出題し、判断の理由を共有する。</a:t>
            </a:r>
          </a:p>
          <a:p>
            <a:pPr>
              <a:buNone/>
            </a:pPr>
            <a:r>
              <a:rPr lang="ja-JP" sz="1400" b="1">
                <a:solidFill>
                  <a:srgbClr val="7558B0"/>
                </a:solidFill>
              </a:rPr>
              <a:t>🎙 講師ノート</a:t>
            </a:r>
          </a:p>
          <a:p>
            <a:pPr>
              <a:buNone/>
            </a:pPr>
            <a:r>
              <a:rPr lang="ja-JP" sz="1500">
                <a:solidFill>
                  <a:srgbClr val="6B5A8A"/>
                </a:solidFill>
              </a:rPr>
              <a:t>挙手やチャットで全員参加。間違えても責めない雰囲気づくりを。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10820400" cy="1143000"/>
          </a:xfrm>
          <a:prstGeom prst="rect">
            <a:avLst/>
          </a:prstGeom>
        </p:spPr>
        <p:txBody>
          <a:bodyPr anchor="b"/>
          <a:lstStyle/>
          <a:p>
            <a:pPr>
              <a:buNone/>
            </a:pPr>
            <a:r>
              <a:rPr lang="ja-JP" sz="3600" b="1">
                <a:solidFill>
                  <a:srgbClr val="4A3370"/>
                </a:solidFill>
              </a:rPr>
              <a:t>今日からできる3つの習慣</a:t>
            </a:r>
          </a:p>
        </p:txBody>
      </p:sp>
      <p:sp>
        <p:nvSpPr>
          <p:cNvPr id="3" name="Accent"/>
          <p:cNvSpPr/>
          <p:nvPr/>
        </p:nvSpPr>
        <p:spPr>
          <a:xfrm>
            <a:off x="685800" y="1645920"/>
            <a:ext cx="2286000" cy="45720"/>
          </a:xfrm>
          <a:prstGeom prst="rect">
            <a:avLst/>
          </a:prstGeom>
          <a:solidFill>
            <a:srgbClr val="4A3370"/>
          </a:solidFill>
        </p:spPr>
        <p:txBody>
          <a:bodyPr/>
          <a:lstStyle/>
          <a:p>
            <a:endParaRPr lang="ja-JP"/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685800" y="1965960"/>
            <a:ext cx="10820400" cy="443484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>
              <a:buChar char="•"/>
            </a:pPr>
            <a:r>
              <a:rPr lang="ja-JP" sz="2000">
                <a:solidFill>
                  <a:srgbClr val="382A52"/>
                </a:solidFill>
              </a:rPr>
              <a:t>怪しいと思ったら一人で抱えず相談</a:t>
            </a:r>
          </a:p>
          <a:p>
            <a:pPr marL="285750" indent="-285750">
              <a:buChar char="•"/>
            </a:pPr>
            <a:r>
              <a:rPr lang="ja-JP" sz="2000">
                <a:solidFill>
                  <a:srgbClr val="382A52"/>
                </a:solidFill>
              </a:rPr>
              <a:t>パスワードは使い回さない</a:t>
            </a:r>
          </a:p>
          <a:p>
            <a:pPr marL="285750" indent="-285750">
              <a:buChar char="•"/>
            </a:pPr>
            <a:r>
              <a:rPr lang="ja-JP" sz="2000">
                <a:solidFill>
                  <a:srgbClr val="382A52"/>
                </a:solidFill>
              </a:rPr>
              <a:t>困ったらすぐ報連相</a:t>
            </a:r>
          </a:p>
          <a:p>
            <a:pPr>
              <a:buNone/>
            </a:pPr>
            <a:r>
              <a:rPr lang="ja-JP" sz="1400" b="1">
                <a:solidFill>
                  <a:srgbClr val="7558B0"/>
                </a:solidFill>
              </a:rPr>
              <a:t>🎙 講師ノート</a:t>
            </a:r>
          </a:p>
          <a:p>
            <a:pPr>
              <a:buNone/>
            </a:pPr>
            <a:r>
              <a:rPr lang="ja-JP" sz="1500">
                <a:solidFill>
                  <a:srgbClr val="6B5A8A"/>
                </a:solidFill>
              </a:rPr>
              <a:t>完璧でなくていい、相談できる人が一番強い、と締める。Q&amp;Aへ。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Lavender">
  <a:themeElements>
    <a:clrScheme name="Lavender">
      <a:dk1>
        <a:sysClr val="windowText" lastClr="000000"/>
      </a:dk1>
      <a:lt1>
        <a:sysClr val="window" lastClr="FFFFFF"/>
      </a:lt1>
      <a:dk2>
        <a:srgbClr val="4A3370"/>
      </a:dk2>
      <a:lt2>
        <a:srgbClr val="F6F3FB"/>
      </a:lt2>
      <a:accent1>
        <a:srgbClr val="8E6FCB"/>
      </a:accent1>
      <a:accent2>
        <a:srgbClr val="7558B0"/>
      </a:accent2>
      <a:accent3>
        <a:srgbClr val="A98FD8"/>
      </a:accent3>
      <a:accent4>
        <a:srgbClr val="6E8456"/>
      </a:accent4>
      <a:accent5>
        <a:srgbClr val="C28A24"/>
      </a:accent5>
      <a:accent6>
        <a:srgbClr val="BE708F"/>
      </a:accent6>
      <a:hlink>
        <a:srgbClr val="7558B0"/>
      </a:hlink>
      <a:folHlink>
        <a:srgbClr val="A98FD8"/>
      </a:folHlink>
    </a:clrScheme>
    <a:fontScheme name="Lavender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Laven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